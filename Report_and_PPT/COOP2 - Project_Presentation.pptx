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555555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5555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5555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5555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AAAA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3300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100" b="0" i="0" u="none" strike="noStrike" kern="1200" baseline="0">
                    <a:solidFill>
                      <a:srgbClr val="222222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LR</c:v>
                </c:pt>
                <c:pt idx="1">
                  <c:v>SVM</c:v>
                </c:pt>
                <c:pt idx="2">
                  <c:v>RF</c:v>
                </c:pt>
                <c:pt idx="3">
                  <c:v>NB</c:v>
                </c:pt>
                <c:pt idx="4">
                  <c:v>PAC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99.7</c:v>
                </c:pt>
                <c:pt idx="1">
                  <c:v>99.8</c:v>
                </c:pt>
                <c:pt idx="2">
                  <c:v>99.7</c:v>
                </c:pt>
                <c:pt idx="3">
                  <c:v>96.3</c:v>
                </c:pt>
                <c:pt idx="4">
                  <c:v>99.9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333333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.5"/>
          <c:min val="94"/>
        </c:scaling>
        <c:delete val="0"/>
        <c:axPos val="l"/>
        <c:majorGridlines>
          <c:spPr>
            <a:ln w="6350" cap="flat" cmpd="sng" algn="ctr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333333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4f7b08df-b1a8-459b-8f35-56cfcf1b0570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Best Accuracy (%)</c:v>
                </c:pt>
              </c:strCache>
            </c:strRef>
          </c:tx>
          <c:spPr>
            <a:solidFill>
              <a:srgbClr val="AAAAA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AAAAA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5555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3300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200" b="0" i="0" u="none" strike="noStrike" kern="1200" baseline="0">
                    <a:solidFill>
                      <a:srgbClr val="222222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TF-IDF Bigrams</c:v>
                </c:pt>
                <c:pt idx="1">
                  <c:v>BoW Unigrams</c:v>
                </c:pt>
                <c:pt idx="2">
                  <c:v>TF-IDF Unigrams</c:v>
                </c:pt>
                <c:pt idx="3">
                  <c:v>TF-IDF Uni+Bigrams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99.4</c:v>
                </c:pt>
                <c:pt idx="1">
                  <c:v>99.6</c:v>
                </c:pt>
                <c:pt idx="2">
                  <c:v>99.8</c:v>
                </c:pt>
                <c:pt idx="3">
                  <c:v>99.9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333333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.1"/>
          <c:min val="99"/>
        </c:scaling>
        <c:delete val="0"/>
        <c:axPos val="b"/>
        <c:majorGridlines>
          <c:spPr>
            <a:ln w="6350" cap="flat" cmpd="sng" algn="ctr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333333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78e4b58c-748f-4936-9ac1-1eb4538f665d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7" Type="http://schemas.openxmlformats.org/officeDocument/2006/relationships/notesSlide" Target="../notesSlides/notesSlide6.xml"/><Relationship Id="rId26" Type="http://schemas.openxmlformats.org/officeDocument/2006/relationships/slideLayout" Target="../slideLayouts/slideLayout1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27902" y="190195"/>
            <a:ext cx="207568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3622" y="226771"/>
            <a:ext cx="198424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04381"/>
            <a:ext cx="9144000" cy="153619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8600" y="0"/>
            <a:ext cx="6217920" cy="837590"/>
          </a:xfrm>
          <a:prstGeom prst="rect">
            <a:avLst/>
          </a:prstGeom>
          <a:noFill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Project Presentation of CO-OP Project at Industry (Module-2) (22CS421)</a:t>
            </a:r>
            <a:r>
              <a:rPr lang="en-IN" altLang="en-US" sz="13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o</a:t>
            </a:r>
            <a:r>
              <a:rPr lang="en-US" sz="1300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65760" y="960120"/>
            <a:ext cx="841248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Fake News Detection using Machine Learning:</a:t>
            </a:r>
            <a:endParaRPr lang="en-US" sz="2700" dirty="0"/>
          </a:p>
          <a:p>
            <a:pPr marL="0" indent="0" algn="ctr">
              <a:buNone/>
            </a:pPr>
            <a:r>
              <a:rPr lang="en-US" sz="2700" b="1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 Comparative Study of Classical Supervised Learning Algorithms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914400" y="2926080"/>
            <a:ext cx="7315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Akshat Mittal</a:t>
            </a:r>
            <a:endParaRPr lang="en-US" sz="17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Roll No.: 221099</a:t>
            </a:r>
            <a:r>
              <a:rPr lang="en-IN" altLang="en-US" sz="15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1228</a:t>
            </a:r>
            <a:endParaRPr lang="en-IN" altLang="en-US" sz="1500" dirty="0">
              <a:solidFill>
                <a:srgbClr val="1A1A1A"/>
              </a:solidFill>
              <a:latin typeface="Times New Roman" panose="02020603050405020304" pitchFamily="34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14400" y="3840480"/>
            <a:ext cx="7315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Supervised By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Dr. </a:t>
            </a:r>
            <a:r>
              <a:rPr lang="en-US" altLang="en-GB" sz="1600" b="1" spc="-1" dirty="0">
                <a:latin typeface="Times New Roman" panose="02020603050405020304" pitchFamily="34" charset="0"/>
                <a:ea typeface="MS PGothic" panose="020B0600070205080204" charset="-128"/>
                <a:cs typeface="Times New Roman" panose="02020603050405020304" pitchFamily="34" charset="0"/>
                <a:sym typeface="+mn-ea"/>
              </a:rPr>
              <a:t>Simarjit Kaur</a:t>
            </a:r>
            <a:endParaRPr lang="en-US" altLang="en-GB" sz="1600" b="1" spc="-1" dirty="0">
              <a:latin typeface="Times New Roman" panose="02020603050405020304" pitchFamily="34" charset="0"/>
              <a:ea typeface="MS PGothic" panose="020B0600070205080204" charset="-128"/>
              <a:cs typeface="Times New Roman" panose="02020603050405020304" pitchFamily="34" charset="0"/>
              <a:sym typeface="+mn-ea"/>
            </a:endParaRPr>
          </a:p>
          <a:p>
            <a:pPr marL="0" indent="0" algn="ctr">
              <a:buNone/>
            </a:pPr>
            <a:r>
              <a:rPr lang="en-IN" altLang="en-US" sz="1600" dirty="0"/>
              <a:t>Associate Professor</a:t>
            </a:r>
            <a:endParaRPr lang="en-IN" alt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5349240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Department of Computer Science and Engineering,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Chitkara University, Punjab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27902" y="190195"/>
            <a:ext cx="207568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3622" y="226771"/>
            <a:ext cx="198424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04381"/>
            <a:ext cx="9144000" cy="153619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53505" y="6327648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0"/>
            <a:ext cx="6126480" cy="837590"/>
          </a:xfrm>
          <a:prstGeom prst="rect">
            <a:avLst/>
          </a:prstGeom>
          <a:noFill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Agenda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457200" y="1051560"/>
            <a:ext cx="502920" cy="621792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051560"/>
            <a:ext cx="50292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01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987552" y="1051560"/>
            <a:ext cx="7680960" cy="621792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1051560"/>
            <a:ext cx="749808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Introduction &amp; Problem Statement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7200" y="1764792"/>
            <a:ext cx="502920" cy="621792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1764792"/>
            <a:ext cx="50292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02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987552" y="1764792"/>
            <a:ext cx="7680960" cy="6217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97280" y="1764792"/>
            <a:ext cx="749808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Dataset Overview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57200" y="2478024"/>
            <a:ext cx="502920" cy="621792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2478024"/>
            <a:ext cx="50292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03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987552" y="2478024"/>
            <a:ext cx="7680960" cy="621792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97280" y="2478024"/>
            <a:ext cx="749808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57200" y="3191256"/>
            <a:ext cx="502920" cy="621792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3191256"/>
            <a:ext cx="50292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04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987552" y="3191256"/>
            <a:ext cx="7680960" cy="6217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97280" y="3191256"/>
            <a:ext cx="749808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Tools &amp; Technologies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57200" y="3904488"/>
            <a:ext cx="502920" cy="621792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3904488"/>
            <a:ext cx="50292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05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987552" y="3904488"/>
            <a:ext cx="7680960" cy="621792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97280" y="3904488"/>
            <a:ext cx="749808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Key Results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457200" y="4617720"/>
            <a:ext cx="502920" cy="621792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7200" y="4617720"/>
            <a:ext cx="50292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06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987552" y="4617720"/>
            <a:ext cx="7680960" cy="6217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97280" y="4617720"/>
            <a:ext cx="749808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Feature Interpretability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457200" y="5330952"/>
            <a:ext cx="502920" cy="621792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7200" y="5330952"/>
            <a:ext cx="50292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07</a:t>
            </a:r>
            <a:endParaRPr lang="en-US" sz="1700" dirty="0"/>
          </a:p>
        </p:txBody>
      </p:sp>
      <p:sp>
        <p:nvSpPr>
          <p:cNvPr id="34" name="Shape 31"/>
          <p:cNvSpPr/>
          <p:nvPr/>
        </p:nvSpPr>
        <p:spPr>
          <a:xfrm>
            <a:off x="987552" y="5330952"/>
            <a:ext cx="7680960" cy="621792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97280" y="5330952"/>
            <a:ext cx="749808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Conclusion &amp; Future Scope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27902" y="190195"/>
            <a:ext cx="207568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3622" y="226771"/>
            <a:ext cx="198424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04381"/>
            <a:ext cx="9144000" cy="153619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53505" y="6327648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0"/>
            <a:ext cx="6126480" cy="837590"/>
          </a:xfrm>
          <a:prstGeom prst="rect">
            <a:avLst/>
          </a:prstGeom>
          <a:noFill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Introduction &amp; Problem Statement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365760" y="987552"/>
            <a:ext cx="3886200" cy="384048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987552"/>
            <a:ext cx="3886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65760" y="1417320"/>
            <a:ext cx="3886200" cy="2468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Misinformation spreads faster than corrections on social media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Scale: Hundreds of millions of posts/day — impossible to fact-check manually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Automated classification can intervene at publication time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Classical ML: fast, interpretable, deployable at scale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0" y="987552"/>
            <a:ext cx="4206240" cy="384048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0" y="987552"/>
            <a:ext cx="4206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Project Objectives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572000" y="1417320"/>
            <a:ext cx="4206240" cy="2468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Compare 5 classical ML classifiers under identical conditions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Evaluate 4 vectorization (N-gram) schemes as a primary variable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Identify linguistic features predictive of fake news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Establish a reproducible, deployable baseline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65760" y="4160520"/>
            <a:ext cx="1874520" cy="1115568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65760" y="4197096"/>
            <a:ext cx="1874520" cy="669341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44,898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365760" y="4807549"/>
            <a:ext cx="1874520" cy="468539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Total Articles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468880" y="4160520"/>
            <a:ext cx="1874520" cy="1115568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2468880" y="4197096"/>
            <a:ext cx="1874520" cy="669341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5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2468880" y="4807549"/>
            <a:ext cx="1874520" cy="468539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Classifiers Tested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0" y="4160520"/>
            <a:ext cx="1874520" cy="1115568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572000" y="4197096"/>
            <a:ext cx="1874520" cy="669341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</a:t>
            </a:r>
            <a:endParaRPr lang="en-US" sz="3200" dirty="0"/>
          </a:p>
        </p:txBody>
      </p:sp>
      <p:sp>
        <p:nvSpPr>
          <p:cNvPr id="22" name="Text 19"/>
          <p:cNvSpPr/>
          <p:nvPr/>
        </p:nvSpPr>
        <p:spPr>
          <a:xfrm>
            <a:off x="4572000" y="4807549"/>
            <a:ext cx="1874520" cy="468539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Vectorization Schemes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675120" y="4160520"/>
            <a:ext cx="1874520" cy="111556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675120" y="4197096"/>
            <a:ext cx="1874520" cy="669341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99.9%</a:t>
            </a:r>
            <a:endParaRPr lang="en-US" sz="3200" dirty="0"/>
          </a:p>
        </p:txBody>
      </p:sp>
      <p:sp>
        <p:nvSpPr>
          <p:cNvPr id="25" name="Text 22"/>
          <p:cNvSpPr/>
          <p:nvPr/>
        </p:nvSpPr>
        <p:spPr>
          <a:xfrm>
            <a:off x="6675120" y="4807549"/>
            <a:ext cx="1874520" cy="468539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Best Accuracy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27902" y="190195"/>
            <a:ext cx="207568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3622" y="226771"/>
            <a:ext cx="198424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04381"/>
            <a:ext cx="9144000" cy="153619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53505" y="6327648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0"/>
            <a:ext cx="6126480" cy="837590"/>
          </a:xfrm>
          <a:prstGeom prst="rect">
            <a:avLst/>
          </a:prstGeom>
          <a:noFill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Dataset Overview — ISOT Fake News Dataset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11480" y="987552"/>
            <a:ext cx="832104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Source: University of Victoria — Real articles from Reuters; Fake from PolitiFact-flagged outlets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44,898 articles total: 23,481 Fake (52.3%) | 21,417 Real (47.7%) — near-balanced classes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US political &amp; international news, 2015–2017 | Headline + body text used; metadata excluded</a:t>
            </a:r>
            <a:endParaRPr lang="en-US" sz="15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40280"/>
            <a:ext cx="8138160" cy="22425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2920" y="4528535"/>
            <a:ext cx="8138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Fig. 1 — ISOT Dataset: class distribution, top subjects, articles by year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27902" y="190195"/>
            <a:ext cx="207568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3622" y="226771"/>
            <a:ext cx="198424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04381"/>
            <a:ext cx="9144000" cy="153619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53505" y="6327648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5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0"/>
            <a:ext cx="6126480" cy="837590"/>
          </a:xfrm>
          <a:prstGeom prst="rect">
            <a:avLst/>
          </a:prstGeom>
          <a:noFill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384048" y="1005840"/>
            <a:ext cx="2029968" cy="45720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1005840"/>
            <a:ext cx="202996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1. Preprocessing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84048" y="1463040"/>
            <a:ext cx="2029968" cy="246888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508760"/>
            <a:ext cx="1883664" cy="2331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Lowercase, remove URLs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Tokenise (NLTK)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Stop-word removal*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WordNet Lemmatise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423160" y="2103120"/>
            <a:ext cx="36576" cy="45720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04872" y="2194560"/>
            <a:ext cx="7315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3300"/>
                </a:solidFill>
              </a:rPr>
              <a:t>▶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468880" y="1005840"/>
            <a:ext cx="2029968" cy="45720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68880" y="1005840"/>
            <a:ext cx="202996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2. Vectorization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468880" y="1463040"/>
            <a:ext cx="2029968" cy="246888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542032" y="1508760"/>
            <a:ext cx="1883664" cy="2331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BoW Unigrams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TF-IDF Unigrams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TF-IDF Bigrams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TF-IDF Uni+Bi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07992" y="2103120"/>
            <a:ext cx="36576" cy="45720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89704" y="2194560"/>
            <a:ext cx="7315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3300"/>
                </a:solidFill>
              </a:rPr>
              <a:t>▶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53712" y="1005840"/>
            <a:ext cx="2029968" cy="45720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53712" y="1005840"/>
            <a:ext cx="202996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3. Classification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553712" y="1463040"/>
            <a:ext cx="2029968" cy="246888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26864" y="1508760"/>
            <a:ext cx="1883664" cy="2331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Logistic Regression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SVM (linear)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Random Forest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Naïve Bayes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Passive-Aggressive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592824" y="2103120"/>
            <a:ext cx="36576" cy="45720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74536" y="2194560"/>
            <a:ext cx="7315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3300"/>
                </a:solidFill>
              </a:rPr>
              <a:t>▶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638544" y="1005840"/>
            <a:ext cx="2029968" cy="45720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38544" y="1005840"/>
            <a:ext cx="202996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4. Evaluation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638544" y="1463040"/>
            <a:ext cx="2029968" cy="246888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711696" y="1508760"/>
            <a:ext cx="1883664" cy="2331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Accuracy, Precision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Recall, F1-score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Confusion matrix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Training time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365760" y="6263640"/>
            <a:ext cx="8412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* First-person plural pronouns (we, our, us) retained for rhetorical relevance  |  80/20 stratified split  |  5-fold CV hyperparameter tuning  |  50,000 max features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27902" y="190195"/>
            <a:ext cx="207568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3622" y="226771"/>
            <a:ext cx="198424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04381"/>
            <a:ext cx="9144000" cy="153619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53505" y="6327648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6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0"/>
            <a:ext cx="6126480" cy="837590"/>
          </a:xfrm>
          <a:prstGeom prst="rect">
            <a:avLst/>
          </a:prstGeom>
          <a:noFill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Tools &amp; Technologies</a:t>
            </a:r>
            <a:endParaRPr lang="en-US" sz="2600" dirty="0"/>
          </a:p>
        </p:txBody>
      </p:sp>
      <p:sp>
        <p:nvSpPr>
          <p:cNvPr id="8" name="Shape 5"/>
          <p:cNvSpPr/>
          <p:nvPr>
            <p:custDataLst>
              <p:tags r:id="rId2"/>
            </p:custDataLst>
          </p:nvPr>
        </p:nvSpPr>
        <p:spPr>
          <a:xfrm>
            <a:off x="365760" y="1024128"/>
            <a:ext cx="73152" cy="841248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9" name="Shape 6"/>
          <p:cNvSpPr/>
          <p:nvPr>
            <p:custDataLst>
              <p:tags r:id="rId3"/>
            </p:custDataLst>
          </p:nvPr>
        </p:nvSpPr>
        <p:spPr>
          <a:xfrm>
            <a:off x="438912" y="1024128"/>
            <a:ext cx="4041648" cy="841248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4"/>
            </p:custDataLst>
          </p:nvPr>
        </p:nvSpPr>
        <p:spPr>
          <a:xfrm>
            <a:off x="566928" y="1060704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33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Python</a:t>
            </a:r>
            <a:endParaRPr lang="en-US" sz="1500" dirty="0"/>
          </a:p>
        </p:txBody>
      </p:sp>
      <p:sp>
        <p:nvSpPr>
          <p:cNvPr id="11" name="Text 8"/>
          <p:cNvSpPr/>
          <p:nvPr>
            <p:custDataLst>
              <p:tags r:id="rId5"/>
            </p:custDataLst>
          </p:nvPr>
        </p:nvSpPr>
        <p:spPr>
          <a:xfrm>
            <a:off x="566928" y="1389888"/>
            <a:ext cx="3840480" cy="4206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Core language — End-to-end pipeline implementation</a:t>
            </a:r>
            <a:endParaRPr lang="en-US" sz="1250" dirty="0"/>
          </a:p>
        </p:txBody>
      </p:sp>
      <p:sp>
        <p:nvSpPr>
          <p:cNvPr id="12" name="Shape 9"/>
          <p:cNvSpPr/>
          <p:nvPr>
            <p:custDataLst>
              <p:tags r:id="rId6"/>
            </p:custDataLst>
          </p:nvPr>
        </p:nvSpPr>
        <p:spPr>
          <a:xfrm>
            <a:off x="5029200" y="1024128"/>
            <a:ext cx="73152" cy="841248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13" name="Shape 10"/>
          <p:cNvSpPr/>
          <p:nvPr>
            <p:custDataLst>
              <p:tags r:id="rId7"/>
            </p:custDataLst>
          </p:nvPr>
        </p:nvSpPr>
        <p:spPr>
          <a:xfrm>
            <a:off x="5102352" y="1024128"/>
            <a:ext cx="4041648" cy="841248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8"/>
            </p:custDataLst>
          </p:nvPr>
        </p:nvSpPr>
        <p:spPr>
          <a:xfrm>
            <a:off x="5230368" y="1060704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33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NLTK</a:t>
            </a:r>
            <a:endParaRPr lang="en-US" sz="1500" dirty="0"/>
          </a:p>
        </p:txBody>
      </p:sp>
      <p:sp>
        <p:nvSpPr>
          <p:cNvPr id="15" name="Text 12"/>
          <p:cNvSpPr/>
          <p:nvPr>
            <p:custDataLst>
              <p:tags r:id="rId9"/>
            </p:custDataLst>
          </p:nvPr>
        </p:nvSpPr>
        <p:spPr>
          <a:xfrm>
            <a:off x="5230368" y="1389888"/>
            <a:ext cx="3840480" cy="4206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NLP / Preprocessing — Tokenisation, stop-words, WordNet lemmatiser</a:t>
            </a:r>
            <a:endParaRPr lang="en-US" sz="1250" dirty="0"/>
          </a:p>
        </p:txBody>
      </p:sp>
      <p:sp>
        <p:nvSpPr>
          <p:cNvPr id="16" name="Shape 13"/>
          <p:cNvSpPr/>
          <p:nvPr>
            <p:custDataLst>
              <p:tags r:id="rId10"/>
            </p:custDataLst>
          </p:nvPr>
        </p:nvSpPr>
        <p:spPr>
          <a:xfrm>
            <a:off x="365760" y="1975104"/>
            <a:ext cx="73152" cy="841248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17" name="Shape 14"/>
          <p:cNvSpPr/>
          <p:nvPr>
            <p:custDataLst>
              <p:tags r:id="rId11"/>
            </p:custDataLst>
          </p:nvPr>
        </p:nvSpPr>
        <p:spPr>
          <a:xfrm>
            <a:off x="438912" y="1975104"/>
            <a:ext cx="4041648" cy="841248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Text 15"/>
          <p:cNvSpPr/>
          <p:nvPr>
            <p:custDataLst>
              <p:tags r:id="rId12"/>
            </p:custDataLst>
          </p:nvPr>
        </p:nvSpPr>
        <p:spPr>
          <a:xfrm>
            <a:off x="566928" y="201168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33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scikit-learn</a:t>
            </a:r>
            <a:endParaRPr lang="en-US" sz="1500" dirty="0"/>
          </a:p>
        </p:txBody>
      </p:sp>
      <p:sp>
        <p:nvSpPr>
          <p:cNvPr id="19" name="Text 16"/>
          <p:cNvSpPr/>
          <p:nvPr>
            <p:custDataLst>
              <p:tags r:id="rId13"/>
            </p:custDataLst>
          </p:nvPr>
        </p:nvSpPr>
        <p:spPr>
          <a:xfrm>
            <a:off x="566928" y="2340864"/>
            <a:ext cx="3840480" cy="4206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ML &amp; Evaluation — 5 classifiers, TfidfVectorizer, GridSearchCV</a:t>
            </a:r>
            <a:endParaRPr lang="en-US" sz="1250" dirty="0"/>
          </a:p>
        </p:txBody>
      </p:sp>
      <p:sp>
        <p:nvSpPr>
          <p:cNvPr id="20" name="Shape 17"/>
          <p:cNvSpPr/>
          <p:nvPr>
            <p:custDataLst>
              <p:tags r:id="rId14"/>
            </p:custDataLst>
          </p:nvPr>
        </p:nvSpPr>
        <p:spPr>
          <a:xfrm>
            <a:off x="5029200" y="1975104"/>
            <a:ext cx="73152" cy="841248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21" name="Shape 18"/>
          <p:cNvSpPr/>
          <p:nvPr>
            <p:custDataLst>
              <p:tags r:id="rId15"/>
            </p:custDataLst>
          </p:nvPr>
        </p:nvSpPr>
        <p:spPr>
          <a:xfrm>
            <a:off x="5102352" y="1975104"/>
            <a:ext cx="4041648" cy="841248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2" name="Text 19"/>
          <p:cNvSpPr/>
          <p:nvPr>
            <p:custDataLst>
              <p:tags r:id="rId16"/>
            </p:custDataLst>
          </p:nvPr>
        </p:nvSpPr>
        <p:spPr>
          <a:xfrm>
            <a:off x="5230368" y="201168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33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NumPy &amp; pandas</a:t>
            </a:r>
            <a:endParaRPr lang="en-US" sz="1500" dirty="0"/>
          </a:p>
        </p:txBody>
      </p:sp>
      <p:sp>
        <p:nvSpPr>
          <p:cNvPr id="23" name="Text 20"/>
          <p:cNvSpPr/>
          <p:nvPr>
            <p:custDataLst>
              <p:tags r:id="rId17"/>
            </p:custDataLst>
          </p:nvPr>
        </p:nvSpPr>
        <p:spPr>
          <a:xfrm>
            <a:off x="5230368" y="2340864"/>
            <a:ext cx="3840480" cy="4206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Data handling — Array ops, dataframe management, splitting</a:t>
            </a:r>
            <a:endParaRPr lang="en-US" sz="1250" dirty="0"/>
          </a:p>
        </p:txBody>
      </p:sp>
      <p:sp>
        <p:nvSpPr>
          <p:cNvPr id="24" name="Shape 21"/>
          <p:cNvSpPr/>
          <p:nvPr>
            <p:custDataLst>
              <p:tags r:id="rId18"/>
            </p:custDataLst>
          </p:nvPr>
        </p:nvSpPr>
        <p:spPr>
          <a:xfrm>
            <a:off x="365760" y="2926080"/>
            <a:ext cx="73152" cy="841248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25" name="Shape 22"/>
          <p:cNvSpPr/>
          <p:nvPr>
            <p:custDataLst>
              <p:tags r:id="rId19"/>
            </p:custDataLst>
          </p:nvPr>
        </p:nvSpPr>
        <p:spPr>
          <a:xfrm>
            <a:off x="438912" y="2926080"/>
            <a:ext cx="4041648" cy="841248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6" name="Text 23"/>
          <p:cNvSpPr/>
          <p:nvPr>
            <p:custDataLst>
              <p:tags r:id="rId20"/>
            </p:custDataLst>
          </p:nvPr>
        </p:nvSpPr>
        <p:spPr>
          <a:xfrm>
            <a:off x="566928" y="2962656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33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Matplotlib &amp; seaborn</a:t>
            </a:r>
            <a:endParaRPr lang="en-US" sz="1500" dirty="0"/>
          </a:p>
        </p:txBody>
      </p:sp>
      <p:sp>
        <p:nvSpPr>
          <p:cNvPr id="27" name="Text 24"/>
          <p:cNvSpPr/>
          <p:nvPr>
            <p:custDataLst>
              <p:tags r:id="rId21"/>
            </p:custDataLst>
          </p:nvPr>
        </p:nvSpPr>
        <p:spPr>
          <a:xfrm>
            <a:off x="566928" y="3291840"/>
            <a:ext cx="3840480" cy="4206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Visualisation — Heatmaps, confusion matrices, scatter plots</a:t>
            </a:r>
            <a:endParaRPr lang="en-US" sz="1250" dirty="0"/>
          </a:p>
        </p:txBody>
      </p:sp>
      <p:sp>
        <p:nvSpPr>
          <p:cNvPr id="28" name="Shape 25"/>
          <p:cNvSpPr/>
          <p:nvPr>
            <p:custDataLst>
              <p:tags r:id="rId22"/>
            </p:custDataLst>
          </p:nvPr>
        </p:nvSpPr>
        <p:spPr>
          <a:xfrm>
            <a:off x="5029200" y="2926080"/>
            <a:ext cx="73152" cy="841248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29" name="Shape 26"/>
          <p:cNvSpPr/>
          <p:nvPr>
            <p:custDataLst>
              <p:tags r:id="rId23"/>
            </p:custDataLst>
          </p:nvPr>
        </p:nvSpPr>
        <p:spPr>
          <a:xfrm>
            <a:off x="5102352" y="2926080"/>
            <a:ext cx="4041648" cy="841248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0" name="Text 27"/>
          <p:cNvSpPr/>
          <p:nvPr>
            <p:custDataLst>
              <p:tags r:id="rId24"/>
            </p:custDataLst>
          </p:nvPr>
        </p:nvSpPr>
        <p:spPr>
          <a:xfrm>
            <a:off x="5230368" y="2962656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33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WordCloud</a:t>
            </a:r>
            <a:endParaRPr lang="en-US" sz="1500" dirty="0"/>
          </a:p>
        </p:txBody>
      </p:sp>
      <p:sp>
        <p:nvSpPr>
          <p:cNvPr id="31" name="Text 28"/>
          <p:cNvSpPr/>
          <p:nvPr>
            <p:custDataLst>
              <p:tags r:id="rId25"/>
            </p:custDataLst>
          </p:nvPr>
        </p:nvSpPr>
        <p:spPr>
          <a:xfrm>
            <a:off x="5230368" y="3291840"/>
            <a:ext cx="3840480" cy="4206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Text viz — Vocabulary contrast word clouds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365760" y="5662422"/>
            <a:ext cx="8412480" cy="5029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7200" y="5670677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Hardware: </a:t>
            </a:r>
            <a:r>
              <a:rPr lang="en-IN" altLang="en-US" sz="125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AMD Ryzen 4800H</a:t>
            </a:r>
            <a:r>
              <a:rPr lang="en-US" sz="125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 |  16 GB RAM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6553505" y="6327648"/>
            <a:ext cx="2377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553505" y="6327648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27902" y="190195"/>
            <a:ext cx="207568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622" y="226771"/>
            <a:ext cx="198424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04381"/>
            <a:ext cx="9144000" cy="153619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53505" y="6327648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7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0"/>
            <a:ext cx="6126480" cy="837590"/>
          </a:xfrm>
          <a:prstGeom prst="rect">
            <a:avLst/>
          </a:prstGeom>
          <a:noFill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Key Results — Classifier Comparison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365760" y="1005840"/>
          <a:ext cx="8412480" cy="2852928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  <a:gridCol w="1078992"/>
                <a:gridCol w="987552"/>
                <a:gridCol w="1078992"/>
                <a:gridCol w="1517904"/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Classifier</a:t>
                      </a:r>
                      <a:endParaRPr lang="en-US" sz="13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Accuracy (%)</a:t>
                      </a:r>
                      <a:endParaRPr lang="en-US" sz="13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Precision</a:t>
                      </a:r>
                      <a:endParaRPr lang="en-US" sz="13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Recall</a:t>
                      </a:r>
                      <a:endParaRPr lang="en-US" sz="13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F1-Score</a:t>
                      </a:r>
                      <a:endParaRPr lang="en-US" sz="13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Train Time (s)</a:t>
                      </a:r>
                      <a:endParaRPr lang="en-US" sz="13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30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Logistic Regression</a:t>
                      </a:r>
                      <a:endParaRPr lang="en-US" sz="13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99.7</a:t>
                      </a:r>
                      <a:endParaRPr lang="en-US" sz="13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0.997</a:t>
                      </a:r>
                      <a:endParaRPr lang="en-US" sz="13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0.997</a:t>
                      </a:r>
                      <a:endParaRPr lang="en-US" sz="13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0.997</a:t>
                      </a:r>
                      <a:endParaRPr lang="en-US" sz="13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3.8</a:t>
                      </a:r>
                      <a:endParaRPr lang="en-US" sz="13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Support Vector Machine</a:t>
                      </a:r>
                      <a:endParaRPr lang="en-US" sz="13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99.8</a:t>
                      </a:r>
                      <a:endParaRPr lang="en-US" sz="13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0.998</a:t>
                      </a:r>
                      <a:endParaRPr lang="en-US" sz="13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0.998</a:t>
                      </a:r>
                      <a:endParaRPr lang="en-US" sz="13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0.998</a:t>
                      </a:r>
                      <a:endParaRPr lang="en-US" sz="13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1.1</a:t>
                      </a:r>
                      <a:endParaRPr lang="en-US" sz="13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Random Forest</a:t>
                      </a:r>
                      <a:endParaRPr lang="en-US" sz="13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99.7</a:t>
                      </a:r>
                      <a:endParaRPr lang="en-US" sz="13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0.997</a:t>
                      </a:r>
                      <a:endParaRPr lang="en-US" sz="13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0.997</a:t>
                      </a:r>
                      <a:endParaRPr lang="en-US" sz="13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0.997</a:t>
                      </a:r>
                      <a:endParaRPr lang="en-US" sz="13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138.5</a:t>
                      </a:r>
                      <a:endParaRPr lang="en-US" sz="13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Naïve Bayes</a:t>
                      </a:r>
                      <a:endParaRPr lang="en-US" sz="13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96.3</a:t>
                      </a:r>
                      <a:endParaRPr lang="en-US" sz="13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0.963</a:t>
                      </a:r>
                      <a:endParaRPr lang="en-US" sz="13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0.962</a:t>
                      </a:r>
                      <a:endParaRPr lang="en-US" sz="13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0.963</a:t>
                      </a:r>
                      <a:endParaRPr lang="en-US" sz="13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0.1</a:t>
                      </a:r>
                      <a:endParaRPr lang="en-US" sz="13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Passive-Aggressive ★</a:t>
                      </a:r>
                      <a:endParaRPr lang="en-US" sz="13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330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99.9</a:t>
                      </a:r>
                      <a:endParaRPr lang="en-US" sz="13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330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0.999</a:t>
                      </a:r>
                      <a:endParaRPr lang="en-US" sz="13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330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0.999</a:t>
                      </a:r>
                      <a:endParaRPr lang="en-US" sz="13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330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0.999</a:t>
                      </a:r>
                      <a:endParaRPr lang="en-US" sz="13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330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0.2</a:t>
                      </a:r>
                      <a:endParaRPr lang="en-US" sz="13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0"/>
          <p:cNvGraphicFramePr/>
          <p:nvPr/>
        </p:nvGraphicFramePr>
        <p:xfrm>
          <a:off x="365760" y="4279392"/>
          <a:ext cx="502920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" name="Text 5"/>
          <p:cNvSpPr/>
          <p:nvPr/>
        </p:nvSpPr>
        <p:spPr>
          <a:xfrm>
            <a:off x="365760" y="6487541"/>
            <a:ext cx="8412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Test set: n = 8,980 | TF-IDF Unigrams + Bigrams | ★ = Pareto-optimal (best accuracy + fastest training)</a:t>
            </a:r>
            <a:endParaRPr lang="en-US" sz="10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4251960"/>
            <a:ext cx="3200400" cy="174980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577840" y="6020057"/>
            <a:ext cx="3200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Fig. — Accuracy vs. Training Time (log scale)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27902" y="190195"/>
            <a:ext cx="207568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622" y="226771"/>
            <a:ext cx="198424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04381"/>
            <a:ext cx="9144000" cy="153619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53505" y="6327648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8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0"/>
            <a:ext cx="6126480" cy="837590"/>
          </a:xfrm>
          <a:prstGeom prst="rect">
            <a:avLst/>
          </a:prstGeom>
          <a:noFill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Key Results — Vectorization Schemes</a:t>
            </a:r>
            <a:endParaRPr lang="en-US" sz="26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65760" y="1005840"/>
          <a:ext cx="51206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5760720" y="1005840"/>
            <a:ext cx="2999232" cy="384048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760720" y="1005840"/>
            <a:ext cx="2999232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760720" y="1426464"/>
            <a:ext cx="2999232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Uni+Bigrams best at 99.9% — phrase-level features add real signal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Bigrams-only (99.4%) &lt; Unigrams (99.8%) — phrases alone lose single-term coverage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BoW (99.6%) lags TF-IDF by up to 0.5 pp — IDF weighting consistently helps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Within the 4 stronger classifiers, scheme spread (0.5pp) &gt; within-scheme spread (0.2pp)</a:t>
            </a:r>
            <a:endParaRPr lang="en-US" sz="13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315968"/>
            <a:ext cx="8138160" cy="15231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2920" y="5866544"/>
            <a:ext cx="81381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Fig. — Confusion matrices, all 5 classifiers (TF-IDF Uni+Bigrams) | PAC: only 13 errors from 8,980 articles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27902" y="190195"/>
            <a:ext cx="207568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3622" y="226771"/>
            <a:ext cx="198424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04381"/>
            <a:ext cx="9144000" cy="153619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53505" y="6327648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9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0"/>
            <a:ext cx="6126480" cy="837590"/>
          </a:xfrm>
          <a:prstGeom prst="rect">
            <a:avLst/>
          </a:prstGeom>
          <a:noFill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Accuracy Heatmap — All Classifiers × All Schemes</a:t>
            </a:r>
            <a:endParaRPr lang="en-US" sz="2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05840"/>
            <a:ext cx="8138160" cy="353987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4591430"/>
            <a:ext cx="8138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Fig. 5 — Accuracy (%) for all 5 classifiers across all 4 vectorization schemes. Range: 94.7% – 99.9%.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11480" y="4911470"/>
            <a:ext cx="832104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PAC achieves 99.9% (Uni+Bigrams) — highest across all 20 model–scheme combinations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Naïve Bayes is consistently the lowest — independence assumption violated in news text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All 4 stronger classifiers ≥ 98.3% under every scheme — robust baseline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27902" y="190195"/>
            <a:ext cx="207568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3622" y="226771"/>
            <a:ext cx="198424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04381"/>
            <a:ext cx="9144000" cy="153619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53505" y="6327648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10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0"/>
            <a:ext cx="6126480" cy="837590"/>
          </a:xfrm>
          <a:prstGeom prst="rect">
            <a:avLst/>
          </a:prstGeom>
          <a:noFill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Feature Interpretability — What Signals Distinguish Fake from Real?</a:t>
            </a:r>
            <a:endParaRPr lang="en-US" sz="2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3931920" cy="2730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0040" y="3763772"/>
            <a:ext cx="39319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Fig. 8 — PAC coefficient weights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005840"/>
            <a:ext cx="4160520" cy="154781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63440" y="2581085"/>
            <a:ext cx="4160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Fig. 7 — Top 20 TF-IDF terms by class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320040" y="4056380"/>
            <a:ext cx="3931920" cy="34747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320040" y="4056380"/>
            <a:ext cx="3931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✔  Real News Vocabulary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20040" y="4403852"/>
            <a:ext cx="3931920" cy="1951228"/>
          </a:xfrm>
          <a:prstGeom prst="rect">
            <a:avLst/>
          </a:prstGeom>
          <a:solidFill>
            <a:srgbClr val="F0FAF3"/>
          </a:solidFill>
          <a:ln w="6350">
            <a:solidFill>
              <a:srgbClr val="BBDDCC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365760" y="4440428"/>
            <a:ext cx="3840480" cy="18415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"reuters" — dominant feature (coeff ≈ −20)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"washington reuters", "york reuters" — bigram source tags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"said", "wednesday", "tuesday" — dateline &amp; attribution markers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Wire-service style: structured, source-attributed, dateline-anchored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663440" y="4056380"/>
            <a:ext cx="4160520" cy="347472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663440" y="4056380"/>
            <a:ext cx="41605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✘  Fake News Vocabulary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663440" y="4403852"/>
            <a:ext cx="4160520" cy="1951228"/>
          </a:xfrm>
          <a:prstGeom prst="rect">
            <a:avLst/>
          </a:prstGeom>
          <a:solidFill>
            <a:srgbClr val="FFF5F5"/>
          </a:solidFill>
          <a:ln w="6350">
            <a:solidFill>
              <a:srgbClr val="FFCCCC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736592" y="4440428"/>
            <a:ext cx="4005072" cy="18415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"via" — top fake feature (coeff ≈ +10), media-embed artifact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"video", "read", "image", "featured image" — hyperlink-heavy layouts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"breaking", "obama", "gop" — urgency &amp; political charge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Affect-driven, media-embedding, personality-centred rhetoric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27902" y="190195"/>
            <a:ext cx="207568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3622" y="226771"/>
            <a:ext cx="198424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04381"/>
            <a:ext cx="9144000" cy="153619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53505" y="6327648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0"/>
            <a:ext cx="6126480" cy="837590"/>
          </a:xfrm>
          <a:prstGeom prst="rect">
            <a:avLst/>
          </a:prstGeom>
          <a:noFill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Conclusion &amp; Future Scope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Key Conclusions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65760" y="1417320"/>
            <a:ext cx="8412480" cy="1920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PAC + TF-IDF Uni+Bigrams: 99.9% accuracy, F1 = 0.999, training in 0.2 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Result meets or exceeds fine-tuned transformer benchmarks (FakeBERT ≈ 98.9%) — at far lower cost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Vectorization is a primary design variable: Uni+Bi &gt; Unigrams &gt; BoW &gt; Bigrams-only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Clear linguistic signature: source-attribution (real) vs. media-embedding &amp; political charge (fake)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65760" y="3474720"/>
            <a:ext cx="8412480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3474720"/>
            <a:ext cx="8412480" cy="365760"/>
          </a:xfrm>
          <a:prstGeom prst="rect">
            <a:avLst/>
          </a:prstGeom>
          <a:noFill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65760" y="3913632"/>
            <a:ext cx="457200" cy="658368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3913632"/>
            <a:ext cx="4572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01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50392" y="3913632"/>
            <a:ext cx="7927848" cy="658368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0120" y="3913632"/>
            <a:ext cx="77266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Direct head-to-head comparison with DistilBERT on the same test partition with matched hardware and reported latency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65760" y="4736592"/>
            <a:ext cx="457200" cy="658368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4736592"/>
            <a:ext cx="4572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50392" y="4736592"/>
            <a:ext cx="7927848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0120" y="4736592"/>
            <a:ext cx="77266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Add stylometric features (punctuation density, modal verb frequency, readability scores) for adversarial robustness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65760" y="5559552"/>
            <a:ext cx="457200" cy="658368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5559552"/>
            <a:ext cx="4572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50392" y="5559552"/>
            <a:ext cx="7927848" cy="658368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60120" y="5559552"/>
            <a:ext cx="77266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Cross-domain evaluation: apply ISOT-trained model to health &amp; financial fake news datasets; measure accuracy decay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27902" y="190195"/>
            <a:ext cx="207568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3622" y="226771"/>
            <a:ext cx="198424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04381"/>
            <a:ext cx="9144000" cy="153619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2377440"/>
            <a:ext cx="8229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914400" y="3653790"/>
            <a:ext cx="73152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Akshat Mittal  |  B.E. CSE  |  Chitkara University, Punjab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33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akshat1228.be22@chitkara.edu.in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553505" y="6327648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16,&quot;left&quot;:28.8,&quot;top&quot;:80.64,&quot;width&quot;:691.2}"/>
</p:tagLst>
</file>

<file path=ppt/tags/tag2.xml><?xml version="1.0" encoding="utf-8"?>
<p:tagLst xmlns:p="http://schemas.openxmlformats.org/presentationml/2006/main">
  <p:tag name="KSO_WM_DIAGRAM_VIRTUALLY_FRAME" val="{&quot;height&quot;:216,&quot;left&quot;:28.8,&quot;top&quot;:80.64,&quot;width&quot;:691.2}"/>
</p:tagLst>
</file>

<file path=ppt/tags/tag3.xml><?xml version="1.0" encoding="utf-8"?>
<p:tagLst xmlns:p="http://schemas.openxmlformats.org/presentationml/2006/main">
  <p:tag name="KSO_WM_DIAGRAM_VIRTUALLY_FRAME" val="{&quot;height&quot;:216,&quot;left&quot;:28.8,&quot;top&quot;:80.64,&quot;width&quot;:691.2}"/>
</p:tagLst>
</file>

<file path=ppt/tags/tag4.xml><?xml version="1.0" encoding="utf-8"?>
<p:tagLst xmlns:p="http://schemas.openxmlformats.org/presentationml/2006/main">
  <p:tag name="KSO_WM_DIAGRAM_VIRTUALLY_FRAME" val="{&quot;height&quot;:216,&quot;left&quot;:28.8,&quot;top&quot;:80.64,&quot;width&quot;:691.2}"/>
</p:tagLst>
</file>

<file path=ppt/tags/tag5.xml><?xml version="1.0" encoding="utf-8"?>
<p:tagLst xmlns:p="http://schemas.openxmlformats.org/presentationml/2006/main">
  <p:tag name="KSO_WM_DIAGRAM_VIRTUALLY_FRAME" val="{&quot;height&quot;:216,&quot;left&quot;:28.8,&quot;top&quot;:80.64,&quot;width&quot;:691.2}"/>
</p:tagLst>
</file>

<file path=ppt/tags/tag6.xml><?xml version="1.0" encoding="utf-8"?>
<p:tagLst xmlns:p="http://schemas.openxmlformats.org/presentationml/2006/main">
  <p:tag name="KSO_WM_DIAGRAM_VIRTUALLY_FRAME" val="{&quot;height&quot;:216,&quot;left&quot;:28.8,&quot;top&quot;:80.64,&quot;width&quot;:691.2}"/>
</p:tagLst>
</file>

<file path=ppt/tags/tag7.xml><?xml version="1.0" encoding="utf-8"?>
<p:tagLst xmlns:p="http://schemas.openxmlformats.org/presentationml/2006/main">
  <p:tag name="KSO_WM_DIAGRAM_VIRTUALLY_FRAME" val="{&quot;height&quot;:216,&quot;left&quot;:28.8,&quot;top&quot;:80.64,&quot;width&quot;:691.2}"/>
</p:tagLst>
</file>

<file path=ppt/tags/tag8.xml><?xml version="1.0" encoding="utf-8"?>
<p:tagLst xmlns:p="http://schemas.openxmlformats.org/presentationml/2006/main">
  <p:tag name="KSO_WM_DIAGRAM_VIRTUALLY_FRAME" val="{&quot;height&quot;:216,&quot;left&quot;:28.8,&quot;top&quot;:80.64,&quot;width&quot;:691.2}"/>
</p:tagLst>
</file>

<file path=ppt/tags/tag9.xml><?xml version="1.0" encoding="utf-8"?>
<p:tagLst xmlns:p="http://schemas.openxmlformats.org/presentationml/2006/main">
  <p:tag name="KSO_WM_DIAGRAM_VIRTUALLY_FRAME" val="{&quot;height&quot;:216,&quot;left&quot;:28.8,&quot;top&quot;:80.64,&quot;width&quot;:691.2}"/>
</p:tagLst>
</file>

<file path=ppt/tags/tag10.xml><?xml version="1.0" encoding="utf-8"?>
<p:tagLst xmlns:p="http://schemas.openxmlformats.org/presentationml/2006/main">
  <p:tag name="KSO_WM_DIAGRAM_VIRTUALLY_FRAME" val="{&quot;height&quot;:216,&quot;left&quot;:28.8,&quot;top&quot;:80.64,&quot;width&quot;:691.2}"/>
</p:tagLst>
</file>

<file path=ppt/tags/tag11.xml><?xml version="1.0" encoding="utf-8"?>
<p:tagLst xmlns:p="http://schemas.openxmlformats.org/presentationml/2006/main">
  <p:tag name="KSO_WM_DIAGRAM_VIRTUALLY_FRAME" val="{&quot;height&quot;:216,&quot;left&quot;:28.8,&quot;top&quot;:80.64,&quot;width&quot;:691.2}"/>
</p:tagLst>
</file>

<file path=ppt/tags/tag12.xml><?xml version="1.0" encoding="utf-8"?>
<p:tagLst xmlns:p="http://schemas.openxmlformats.org/presentationml/2006/main">
  <p:tag name="KSO_WM_DIAGRAM_VIRTUALLY_FRAME" val="{&quot;height&quot;:216,&quot;left&quot;:28.8,&quot;top&quot;:80.64,&quot;width&quot;:691.2}"/>
</p:tagLst>
</file>

<file path=ppt/tags/tag13.xml><?xml version="1.0" encoding="utf-8"?>
<p:tagLst xmlns:p="http://schemas.openxmlformats.org/presentationml/2006/main">
  <p:tag name="KSO_WM_DIAGRAM_VIRTUALLY_FRAME" val="{&quot;height&quot;:216,&quot;left&quot;:28.8,&quot;top&quot;:80.64,&quot;width&quot;:691.2}"/>
</p:tagLst>
</file>

<file path=ppt/tags/tag14.xml><?xml version="1.0" encoding="utf-8"?>
<p:tagLst xmlns:p="http://schemas.openxmlformats.org/presentationml/2006/main">
  <p:tag name="KSO_WM_DIAGRAM_VIRTUALLY_FRAME" val="{&quot;height&quot;:216,&quot;left&quot;:28.8,&quot;top&quot;:80.64,&quot;width&quot;:691.2}"/>
</p:tagLst>
</file>

<file path=ppt/tags/tag15.xml><?xml version="1.0" encoding="utf-8"?>
<p:tagLst xmlns:p="http://schemas.openxmlformats.org/presentationml/2006/main">
  <p:tag name="KSO_WM_DIAGRAM_VIRTUALLY_FRAME" val="{&quot;height&quot;:216,&quot;left&quot;:28.8,&quot;top&quot;:80.64,&quot;width&quot;:691.2}"/>
</p:tagLst>
</file>

<file path=ppt/tags/tag16.xml><?xml version="1.0" encoding="utf-8"?>
<p:tagLst xmlns:p="http://schemas.openxmlformats.org/presentationml/2006/main">
  <p:tag name="KSO_WM_DIAGRAM_VIRTUALLY_FRAME" val="{&quot;height&quot;:216,&quot;left&quot;:28.8,&quot;top&quot;:80.64,&quot;width&quot;:691.2}"/>
</p:tagLst>
</file>

<file path=ppt/tags/tag17.xml><?xml version="1.0" encoding="utf-8"?>
<p:tagLst xmlns:p="http://schemas.openxmlformats.org/presentationml/2006/main">
  <p:tag name="KSO_WM_DIAGRAM_VIRTUALLY_FRAME" val="{&quot;height&quot;:216,&quot;left&quot;:28.8,&quot;top&quot;:80.64,&quot;width&quot;:691.2}"/>
</p:tagLst>
</file>

<file path=ppt/tags/tag18.xml><?xml version="1.0" encoding="utf-8"?>
<p:tagLst xmlns:p="http://schemas.openxmlformats.org/presentationml/2006/main">
  <p:tag name="KSO_WM_DIAGRAM_VIRTUALLY_FRAME" val="{&quot;height&quot;:216,&quot;left&quot;:28.8,&quot;top&quot;:80.64,&quot;width&quot;:691.2}"/>
</p:tagLst>
</file>

<file path=ppt/tags/tag19.xml><?xml version="1.0" encoding="utf-8"?>
<p:tagLst xmlns:p="http://schemas.openxmlformats.org/presentationml/2006/main">
  <p:tag name="KSO_WM_DIAGRAM_VIRTUALLY_FRAME" val="{&quot;height&quot;:216,&quot;left&quot;:28.8,&quot;top&quot;:80.64,&quot;width&quot;:691.2}"/>
</p:tagLst>
</file>

<file path=ppt/tags/tag20.xml><?xml version="1.0" encoding="utf-8"?>
<p:tagLst xmlns:p="http://schemas.openxmlformats.org/presentationml/2006/main">
  <p:tag name="KSO_WM_DIAGRAM_VIRTUALLY_FRAME" val="{&quot;height&quot;:216,&quot;left&quot;:28.8,&quot;top&quot;:80.64,&quot;width&quot;:691.2}"/>
</p:tagLst>
</file>

<file path=ppt/tags/tag21.xml><?xml version="1.0" encoding="utf-8"?>
<p:tagLst xmlns:p="http://schemas.openxmlformats.org/presentationml/2006/main">
  <p:tag name="KSO_WM_DIAGRAM_VIRTUALLY_FRAME" val="{&quot;height&quot;:216,&quot;left&quot;:28.8,&quot;top&quot;:80.64,&quot;width&quot;:691.2}"/>
</p:tagLst>
</file>

<file path=ppt/tags/tag22.xml><?xml version="1.0" encoding="utf-8"?>
<p:tagLst xmlns:p="http://schemas.openxmlformats.org/presentationml/2006/main">
  <p:tag name="KSO_WM_DIAGRAM_VIRTUALLY_FRAME" val="{&quot;height&quot;:216,&quot;left&quot;:28.8,&quot;top&quot;:80.64,&quot;width&quot;:691.2}"/>
</p:tagLst>
</file>

<file path=ppt/tags/tag23.xml><?xml version="1.0" encoding="utf-8"?>
<p:tagLst xmlns:p="http://schemas.openxmlformats.org/presentationml/2006/main">
  <p:tag name="KSO_WM_DIAGRAM_VIRTUALLY_FRAME" val="{&quot;height&quot;:216,&quot;left&quot;:28.8,&quot;top&quot;:80.64,&quot;width&quot;:691.2}"/>
</p:tagLst>
</file>

<file path=ppt/tags/tag24.xml><?xml version="1.0" encoding="utf-8"?>
<p:tagLst xmlns:p="http://schemas.openxmlformats.org/presentationml/2006/main">
  <p:tag name="KSO_WM_DIAGRAM_VIRTUALLY_FRAME" val="{&quot;height&quot;:216,&quot;left&quot;:28.8,&quot;top&quot;:80.64,&quot;width&quot;:691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5267</Words>
  <Application>WPS Presentation</Application>
  <PresentationFormat>On-screen Show (16:9)</PresentationFormat>
  <Paragraphs>321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SimSun</vt:lpstr>
      <vt:lpstr>Wingdings</vt:lpstr>
      <vt:lpstr>Times New Roman</vt:lpstr>
      <vt:lpstr>Times New Roman</vt:lpstr>
      <vt:lpstr>Times New Roman</vt:lpstr>
      <vt:lpstr>MS PGothic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Fake News Detection using Machine Learning</dc:title>
  <dc:creator>Akshat Mittal</dc:creator>
  <dc:subject>PptxGenJS Presentation</dc:subject>
  <cp:lastModifiedBy>Akshat</cp:lastModifiedBy>
  <cp:revision>5</cp:revision>
  <dcterms:created xsi:type="dcterms:W3CDTF">2026-05-15T18:06:00Z</dcterms:created>
  <dcterms:modified xsi:type="dcterms:W3CDTF">2026-05-20T07:19:19Z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E6D16A7148BF444CB4514169D03303AE_12</vt:lpwstr>
  </property>
  <property fmtid="{D5CDD505-2E9C-101B-9397-08002B2CF9AE}" pid="3" name="KSOProductBuildVer">
    <vt:lpwstr>2057-12.2.0.23202</vt:lpwstr>
  </property>
</Properties>
</file>